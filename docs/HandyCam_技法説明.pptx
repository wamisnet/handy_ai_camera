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3C63"/>
                </a:solidFill>
                <a:latin typeface="Meiryo"/>
              </a:defRPr>
            </a:pPr>
            <a:r>
              <a:rPr sz="1200" b="0" i="0" u="none" strike="noStrike">
                <a:solidFill>
                  <a:srgbClr val="0F3C63"/>
                </a:solidFill>
                <a:latin typeface="Meiryo"/>
              </a:rPr>
              <a:t>本人の最小 が 他製品の最大 を上回れば完全分離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本人スコア 最小</c:v>
                </c:pt>
              </c:strCache>
            </c:strRef>
          </c:tx>
          <c:spPr>
            <a:solidFill>
              <a:srgbClr val="1E6F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Shape</c:v>
                  </c:pt>
                  <c:pt idx="1">
                    <c:v>Feature</c:v>
                  </c:pt>
                  <c:pt idx="2">
                    <c:v>HOG</c:v>
                  </c:pt>
                  <c:pt idx="3">
                    <c:v>NCC</c:v>
                  </c:pt>
                  <c:pt idx="4">
                    <c:v>Emboss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0.971</c:v>
                </c:pt>
                <c:pt idx="1">
                  <c:v>0.236</c:v>
                </c:pt>
                <c:pt idx="2">
                  <c:v>0.953</c:v>
                </c:pt>
                <c:pt idx="3">
                  <c:v>0.333</c:v>
                </c:pt>
                <c:pt idx="4">
                  <c:v>0.642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他製品スコア 最大</c:v>
                </c:pt>
              </c:strCache>
            </c:strRef>
          </c:tx>
          <c:spPr>
            <a:solidFill>
              <a:srgbClr val="B0B8C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Shape</c:v>
                  </c:pt>
                  <c:pt idx="1">
                    <c:v>Feature</c:v>
                  </c:pt>
                  <c:pt idx="2">
                    <c:v>HOG</c:v>
                  </c:pt>
                  <c:pt idx="3">
                    <c:v>NCC</c:v>
                  </c:pt>
                  <c:pt idx="4">
                    <c:v>Emboss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0.998</c:v>
                </c:pt>
                <c:pt idx="1">
                  <c:v>0.103</c:v>
                </c:pt>
                <c:pt idx="2">
                  <c:v>0.98</c:v>
                </c:pt>
                <c:pt idx="3">
                  <c:v>0.772</c:v>
                </c:pt>
                <c:pt idx="4">
                  <c:v>0.816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全体の位置づけ。深層学習の事前学習を必須にせず、現場で新製品を追加できることを重視した。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特徴点マッチングは回転・スケール不変。RANSAC で幾何整合を要求するので、偶然似た記述子が散発しても通らない。スコアの絶対値は低め(0.2〜0.4)なので、しきい値より「他製品との差」で判定する。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外形輪郭のエッジが強すぎてスコアを支配するため、マスクをサイズの 1/24 ぶん縮めて境界帯を除外している。これは合成画像シミュレーションで判明した改善点。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pctools/simulate.py で再現可能。実物のウレタンは外形や大きさも違うことが多いので、実運用ではこの設定より楽になる見込み。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C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画像で製品を見極める仕組み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ハンディターミナルのカメラで「予定の製品と同じか」を判定する技法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押印文字入りウレタンフォーム 2 点セット / グレー箱入り金属部品</a:t>
            </a:r>
            <a:endParaRPr lang="en-US" sz="1400" dirty="0"/>
          </a:p>
        </p:txBody>
      </p:sp>
      <p:pic>
        <p:nvPicPr>
          <p:cNvPr id="5" name="Image 0" descr="img/canon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206240"/>
            <a:ext cx="5852160" cy="1463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0" y="42062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OCR や製品専用の深層学習は使わず、OpenCV の古典的画像処理を組み合わせて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アプリ単体で「登録 → 検査 → 評価 → 調整」を完結させる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何を解決したいか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「今来るはずの製品」と目の前の物が同じかを、手持ちの端末カメラだけで判定する</a:t>
            </a:r>
            <a:endParaRPr lang="en-US" sz="1400" dirty="0"/>
          </a:p>
        </p:txBody>
      </p:sp>
      <p:pic>
        <p:nvPicPr>
          <p:cNvPr id="4" name="Image 0" descr="img/sce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572000" cy="1527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29184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ウレタンフォーム 2 点セット(黒背景)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8404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・押印(凹凸)文字が識別の鍵。陰影しかなく低コントラスト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・2 パーツが正しい組み合わせかを同時に確認</a:t>
            </a:r>
            <a:endParaRPr lang="en-US" sz="1100" dirty="0"/>
          </a:p>
        </p:txBody>
      </p:sp>
      <p:pic>
        <p:nvPicPr>
          <p:cNvPr id="8" name="Image 1" descr="img/metal_ho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00200"/>
            <a:ext cx="2039112" cy="1527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0" y="3291840"/>
            <a:ext cx="6126480" cy="1417320"/>
          </a:xfrm>
          <a:prstGeom prst="roundRect">
            <a:avLst>
              <a:gd name="adj" fmla="val 516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69280" y="34290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グレー箱入り金属部品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669280" y="38404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・穴の位置・数と外形が識別の鍵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・金属の映り込み、箱の縁が邪魔をする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772400" y="1600200"/>
            <a:ext cx="3840480" cy="1527048"/>
          </a:xfrm>
          <a:prstGeom prst="roundRect">
            <a:avLst>
              <a:gd name="adj" fmla="val 4790"/>
            </a:avLst>
          </a:prstGeom>
          <a:solidFill>
            <a:srgbClr val="0F3C63"/>
          </a:solidFill>
          <a:ln w="12700">
            <a:solidFill>
              <a:srgbClr val="0F3C6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955280" y="16916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58E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前提: 撮影条件は毎回変わる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距離(スケール)・向き(回転)・傾き(パース)・照明(フラッシュ有無、影、露出)が固定できない。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502920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だから「テンプレートと画素を単純比較」は使わない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距離が違えば大きさが、傾けば形が、照明が違えば明るさが変わる。単純一致は本人を落とす(誤拒否)だけでなく、偶然似た明るさの別製品を通す(誤受入)事故につながる。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HandyCam 製品照合 ・ 技法説明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設計方針は 3 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58E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変動は前段で正規化する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566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切り出した物体を「長軸水平・一定サイズ・中央」に写し直してから比較する。距離と回転はここでほぼ消える。照明は輝度ではなく勾配・エッジで比較する。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600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58E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6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手法を 1 つに決めない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566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性質の違う 7 手法を同時に走らせ、スコアを全部記録する。どれが効くかは製品次第なので、重み・しきい値・必須指定を現場で組み替えられるようにする。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600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58E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64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「本人が高い」だけでは通さない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566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登録済みの他製品に対するスコアも計算し、本人との差(識別余裕)が足りなければ NG。似た製品が増えても誤受入しない方向に倒す。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5778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共通の狙い: 誤受入(違う製品を OK)をゼロに保つことを最優先し、誤拒否(本人を NG)は登録ビューの追加としきい値調整で減らしていく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HandyCam 製品照合 ・ 技法説明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処理の流れ(パイプライン)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撮影から判定まで 5 段階。各段が特定の変動を吸収する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411480" cy="411480"/>
          </a:xfrm>
          <a:prstGeom prst="ellipse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74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77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フラッシュ OFF→ON のバーストで複数フレーム取得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78608" y="2450592"/>
            <a:ext cx="256032" cy="320040"/>
          </a:xfrm>
          <a:prstGeom prst="rightArrow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73736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1874520"/>
            <a:ext cx="411480" cy="411480"/>
          </a:xfrm>
          <a:prstGeom prst="ellipse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718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6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874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切り出し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377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背景から物体だけを抜く(セグメンテーション)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64608" y="2450592"/>
            <a:ext cx="256032" cy="320040"/>
          </a:xfrm>
          <a:prstGeom prst="rightArrow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173736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1874520"/>
            <a:ext cx="411480" cy="411480"/>
          </a:xfrm>
          <a:prstGeom prst="ellipse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1874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正規化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2377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長軸水平・一定サイズに写し直す(canonical 化)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50608" y="2450592"/>
            <a:ext cx="256032" cy="320040"/>
          </a:xfrm>
          <a:prstGeom prst="rightArrow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173736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0F3C63"/>
          </a:solidFill>
          <a:ln w="12700">
            <a:solidFill>
              <a:srgbClr val="0F3C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1874520"/>
            <a:ext cx="411480" cy="411480"/>
          </a:xfrm>
          <a:prstGeom prst="ellipse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438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6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1874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 7 手法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2377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 / 局所特徴 / HOG / 勾配相関 / 押印エッジ / 穴 / CNN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36608" y="2450592"/>
            <a:ext cx="256032" cy="320040"/>
          </a:xfrm>
          <a:prstGeom prst="rightArrow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92640" y="173736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29800" y="1874520"/>
            <a:ext cx="411480" cy="411480"/>
          </a:xfrm>
          <a:prstGeom prst="ellipse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298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60" dirty="0"/>
          </a:p>
        </p:txBody>
      </p:sp>
      <p:sp>
        <p:nvSpPr>
          <p:cNvPr id="31" name="Text 29"/>
          <p:cNvSpPr txBox="1"/>
          <p:nvPr/>
        </p:nvSpPr>
        <p:spPr>
          <a:xfrm>
            <a:off x="10332720" y="1874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融合判定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829800" y="2377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しきい値 + 他製品との余裕 + 重み付き融合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各段が吸収する変動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6858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段階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吸収する変動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仕組み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撮影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背景の映り込み・手ブレ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フラッシュ差分で近い物体だけを強調。複数フレームの中央値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切り出し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背景の種類(黒 / グレー箱)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黒: 輝度 Otsu ∧ フラッシュ差分。箱: 周辺から背景色を推定し色距離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正規化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距離(スケール)・面内回転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最小外接矩形で長軸を水平化、長辺を一定に拡縮。180° の曖昧さは両方評価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照合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傾き(パース)・照明・数 px のずれ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RANSAC ホモグラフィ / ECC 整列 / 勾配・エッジ比較 / 平行移動探索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判定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偶然の一致・似た製品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他製品との識別余裕、必須(gate)手法、フレーム間集約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35" name="Text 32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HandyCam 製品照合 ・ 技法説明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1・2  撮影と切り出し(セグメンテーション)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背景を「なるべく遠い黒」にしてもらう理由がここにある</a:t>
            </a:r>
            <a:endParaRPr lang="en-US" sz="1400" dirty="0"/>
          </a:p>
        </p:txBody>
      </p:sp>
      <p:pic>
        <p:nvPicPr>
          <p:cNvPr id="4" name="Image 0" descr="img/segmen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58368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7947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緑: 検出した輪郭 / 橙: 最小外接矩形(次の正規化で使う)。ライブプレビューにも同じ重畳を出し「検出数 = 期待数」を確認してから撮影する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フラッシュ差分(黒背景)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103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トーチ OFF と ON の 2 枚を撮り「ON − OFF」を取る。カメラに近い物体は明るくなるが、遠い背景はほとんど変わらない → 遠景や映り込みが消える。輝度 Otsu と AND して仕上げる。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06640" y="306324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背景色距離(グレー箱)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3611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画像の外周 8% を背景サンプルとして Lab 色の中央値を推定し、そこからの色距離が大きい画素を前景にする。金属の明暗どちらにも対応。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420624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343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共通の後処理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75488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モルフォロジー(開閉)でノイズ除去 → 外側輪郭を抽出 → 画面面積比で小さいブロブを捨てる → 面積上位を採用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検出数が期待パーツ数(ウレタン 2 点セットなら 2)と合わないフレームは使わない。全フレーム不一致なら「検出数不一致」として NG(誤判定より安全側)。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穴(内側輪郭)は埋めずに残す → 金属部品の穴パターン照合に使う。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HandyCam 製品照合 ・ 技法説明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 正規化(canonical 化): 条件が違っても同じ画像にする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距離と回転の違いは、比較する前にここで消す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撮影画像(距離・向き・傾き・照明がすべて違う)</a:t>
            </a:r>
            <a:endParaRPr lang="en-US" sz="1200" dirty="0"/>
          </a:p>
        </p:txBody>
      </p:sp>
      <p:pic>
        <p:nvPicPr>
          <p:cNvPr id="5" name="Image 0" descr="img/sce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583680" cy="2194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66160" y="4023360"/>
            <a:ext cx="548640" cy="365760"/>
          </a:xfrm>
          <a:prstGeom prst="downArrow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正規化後(384×384 のキャンバス、長軸水平、マスク外は黒)</a:t>
            </a:r>
            <a:endParaRPr lang="en-US" sz="1200" dirty="0"/>
          </a:p>
        </p:txBody>
      </p:sp>
      <p:pic>
        <p:nvPicPr>
          <p:cNvPr id="8" name="Image 1" descr="img/canoni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54880"/>
            <a:ext cx="6583680" cy="1645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06640" y="1463040"/>
            <a:ext cx="4206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物体の最小外接矩形(minAreaRect)から角度と長辺を取り、長軸が水平・長辺がキャンバスの 88% になるアフィン変換で写す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マスク外を黒で塗り、背景の影響を完全に排除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180° 回転(と必要なら鏡像)は区別できないので、両方のバリアントを作り照合時に良い方を採る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登録時は 1 枚目に向きを揃えて保存(勾配相関で判定)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強い傾き(パース)は残るため、複数角度で登録し、照合側(RANSAC/ECC)でも吸収する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HandyCam 製品照合 ・ 技法説明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 照合手法: 性質の違う 7 手法を同時に走らせる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0〜1 のスコアを返す。テンプレート複数ビュー × 向きバリアントの最大値を採用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2194560"/>
                <a:gridCol w="2011680"/>
                <a:gridCol w="21945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手法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何を見るか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強い変動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弱点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向く用途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Shape(Hu モーメント)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外形シルエット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回転・スケール・照明すべて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外形が同じ製品は区別不可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形違いを弾くゲート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Feature(ORB/AKAZE/SIFT + RANSAC)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コーナー特徴の幾何配置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回転・スケール・傾き・部分遮蔽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無地の面、強いボケ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押印文字の違い(本命)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HOG(勾配方向ヒストグラム)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全体の見た目の構造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小さな位置ずれ・照明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細部の違いに鈍い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粗い類似判定、登録時の対応付け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NCC(ECC 整列 → 勾配相関)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整列後の模様の一致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照明・数 px のずれ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強い傾き、テクスチャノイズ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押印パターンの一致度(ROI 併用)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Emboss(高域 → Canny → Chamfer)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エッジの重なり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輝度差・線の太さ・小ずれ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一部だけ違う文字に寛容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押印の有無・大きな違い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Holes(内側輪郭の点集合)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穴の数・位置・大きさ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照明・回転・スケール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穴が無い製品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金属部品の穴パターン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Embedding(TFLite CNN、任意)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意味的な全体特徴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照明・多少の形状差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細かい文字・穴に鈍い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別カテゴリの検出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ROI(注目領域): ユーザが正規化画像上で押印文字などを囲むと、Feature / HOG / NCC / Emboss がその領域を重み付きで重視する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HandyCam 製品照合 ・ 技法説明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本命: 局所特徴 + RANSAC(押印文字の違いを見分ける)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「点の対応」ではなく「幾何的に整合する対応の数」を数える</a:t>
            </a:r>
            <a:endParaRPr lang="en-US" sz="1400" dirty="0"/>
          </a:p>
        </p:txBody>
      </p:sp>
      <p:pic>
        <p:nvPicPr>
          <p:cNvPr id="4" name="Image 0" descr="img/match_genu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394960" cy="2697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24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同じ製品(別条件で撮影): 幾何整合するマッチ 339 本</a:t>
            </a:r>
            <a:endParaRPr lang="en-US" sz="1000" dirty="0"/>
          </a:p>
        </p:txBody>
      </p:sp>
      <p:pic>
        <p:nvPicPr>
          <p:cNvPr id="6" name="Image 1" descr="img/match_impos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5394960" cy="2697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0" y="4224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別製品(A-13 vs A-12): 整合するマッチは 33 本、文字の共通部分だけ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48640" y="4617720"/>
            <a:ext cx="365760" cy="365760"/>
          </a:xfrm>
          <a:prstGeom prst="ellipse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20" dirty="0"/>
          </a:p>
        </p:txBody>
      </p:sp>
      <p:sp>
        <p:nvSpPr>
          <p:cNvPr id="10" name="Text 6"/>
          <p:cNvSpPr txBox="1"/>
          <p:nvPr/>
        </p:nvSpPr>
        <p:spPr>
          <a:xfrm>
            <a:off x="1005840" y="45720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CLAHE で局所コントラストを上げ、ORB(既定)/AKAZE/SIFT でキーポイントと記述子を抽出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51960" y="4617720"/>
            <a:ext cx="365760" cy="365760"/>
          </a:xfrm>
          <a:prstGeom prst="ellipse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25196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2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45720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総当たりで 2 近傍を取り、比率テスト(0.8)で曖昧な対応を捨てる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4617720"/>
            <a:ext cx="365760" cy="365760"/>
          </a:xfrm>
          <a:prstGeom prst="ellipse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95528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20" dirty="0"/>
          </a:p>
        </p:txBody>
      </p:sp>
      <p:sp>
        <p:nvSpPr>
          <p:cNvPr id="16" name="Text 12"/>
          <p:cNvSpPr txBox="1"/>
          <p:nvPr/>
        </p:nvSpPr>
        <p:spPr>
          <a:xfrm>
            <a:off x="8412480" y="45720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RANSAC でホモグラフィを推定し、整合するインライアだけ残す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5486400"/>
            <a:ext cx="365760" cy="365760"/>
          </a:xfrm>
          <a:prstGeom prst="ellipse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20" dirty="0"/>
          </a:p>
        </p:txBody>
      </p:sp>
      <p:sp>
        <p:nvSpPr>
          <p:cNvPr id="19" name="Text 15"/>
          <p:cNvSpPr txBox="1"/>
          <p:nvPr/>
        </p:nvSpPr>
        <p:spPr>
          <a:xfrm>
            <a:off x="1005840" y="5440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推定した変換の妥当性を検査(スケール 0.5〜2、パース成分小、反転なし)。外れれば 0 点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251960" y="5486400"/>
            <a:ext cx="365760" cy="365760"/>
          </a:xfrm>
          <a:prstGeom prst="ellipse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25196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20" dirty="0"/>
          </a:p>
        </p:txBody>
      </p:sp>
      <p:sp>
        <p:nvSpPr>
          <p:cNvPr id="22" name="Text 18"/>
          <p:cNvSpPr txBox="1"/>
          <p:nvPr/>
        </p:nvSpPr>
        <p:spPr>
          <a:xfrm>
            <a:off x="4709160" y="5440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スコア = ROI 重み付きインライア数 ÷ キーポイント数。インライアが少ないと信頼度を下げる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HandyCam 製品照合 ・ 技法説明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押印(凹凸)を照明に依らず取り出す前処理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輝度そのものは比較しない。「陰影の変化」だけを残す</a:t>
            </a:r>
            <a:endParaRPr lang="en-US" sz="1400" dirty="0"/>
          </a:p>
        </p:txBody>
      </p:sp>
      <p:pic>
        <p:nvPicPr>
          <p:cNvPr id="4" name="Image 0" descr="img/pre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正規化画像(グレー)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035808" y="2624328"/>
            <a:ext cx="329184" cy="320040"/>
          </a:xfrm>
          <a:prstGeom prst="rightArrow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pic>
        <p:nvPicPr>
          <p:cNvPr id="7" name="Image 1" descr="img/pre_high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554480"/>
            <a:ext cx="2468880" cy="24688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83280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高域強調(gray − ぼかし)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870448" y="2624328"/>
            <a:ext cx="329184" cy="320040"/>
          </a:xfrm>
          <a:prstGeom prst="rightArrow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pic>
        <p:nvPicPr>
          <p:cNvPr id="10" name="Image 2" descr="img/pre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2468880" cy="24688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217920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CLAHE → ぼかし → 勾配強度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8705088" y="2624328"/>
            <a:ext cx="329184" cy="320040"/>
          </a:xfrm>
          <a:prstGeom prst="rightArrow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pic>
        <p:nvPicPr>
          <p:cNvPr id="13" name="Image 3" descr="img/pre_edg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554480"/>
            <a:ext cx="2468880" cy="24688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052560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Canny エッジ(輪郭帯は除外)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548640" y="45262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73152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HOG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73152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勾配方向のヒストグラムをセル(24px)単位で取り、コサイン類似度。セル程度の位置ずれには寛容。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297680" y="45262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448056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NCC(勾配相関)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48056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低解像度で ECC アフィン整列 → 勾配強度画像の共通マスク内 Pearson 相関。表面の微細テクスチャはぼかして落とす。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046720" y="45262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22960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Emboss(Chamfer)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エッジ画像と相手の距離変換で「エッジが相手のエッジ近傍に乗る割合」を双方向で計算。±6px の平行移動探索付き。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HandyCam 製品照合 ・ 技法説明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 判定: しきい値 + 他製品との識別余裕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本人スコアが高いだけでは通さない。似た製品が登録されるほど判定は自動的に厳しくなる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手法ごとの判定イメージ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Feature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54480" y="1965960"/>
            <a:ext cx="4480560" cy="2743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1965960"/>
            <a:ext cx="1613002" cy="27432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13202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6F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 0.36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54480" y="2313432"/>
            <a:ext cx="4480560" cy="2743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2313432"/>
            <a:ext cx="403250" cy="274320"/>
          </a:xfrm>
          <a:prstGeom prst="rect">
            <a:avLst/>
          </a:prstGeom>
          <a:solidFill>
            <a:srgbClr val="9AA7B5"/>
          </a:solidFill>
          <a:ln w="12700">
            <a:solidFill>
              <a:srgbClr val="9AA7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03450" y="2313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他製品最良 0.09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1920240"/>
            <a:ext cx="0" cy="731520"/>
          </a:xfrm>
          <a:prstGeom prst="line">
            <a:avLst/>
          </a:prstGeom>
          <a:noFill/>
          <a:ln w="25400">
            <a:solidFill>
              <a:srgbClr val="E58E0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548640" y="2313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通過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54480" y="3063240"/>
            <a:ext cx="4480560" cy="2743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063240"/>
            <a:ext cx="4256532" cy="27432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6732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6F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 0.95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554480" y="3410712"/>
            <a:ext cx="4480560" cy="2743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3410712"/>
            <a:ext cx="4166921" cy="274320"/>
          </a:xfrm>
          <a:prstGeom prst="rect">
            <a:avLst/>
          </a:prstGeom>
          <a:solidFill>
            <a:srgbClr val="9AA7B5"/>
          </a:solidFill>
          <a:ln w="12700">
            <a:solidFill>
              <a:srgbClr val="9AA7B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7121" y="3410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他製品最良 0.93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42816" y="3017520"/>
            <a:ext cx="0" cy="731520"/>
          </a:xfrm>
          <a:prstGeom prst="line">
            <a:avLst/>
          </a:prstGeom>
          <a:noFill/>
          <a:ln w="25400">
            <a:solidFill>
              <a:srgbClr val="E58E00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548640" y="3410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13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差が不足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NCC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54480" y="4160520"/>
            <a:ext cx="4480560" cy="2743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4160520"/>
            <a:ext cx="3494837" cy="27432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95037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6F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 0.78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54480" y="4507992"/>
            <a:ext cx="4480560" cy="2743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54480" y="4507992"/>
            <a:ext cx="2464308" cy="274320"/>
          </a:xfrm>
          <a:prstGeom prst="rect">
            <a:avLst/>
          </a:prstGeom>
          <a:solidFill>
            <a:srgbClr val="9AA7B5"/>
          </a:solidFill>
          <a:ln w="12700">
            <a:solidFill>
              <a:srgbClr val="9AA7B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64508" y="4507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他製品最良 0.55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22676" y="4114800"/>
            <a:ext cx="0" cy="731520"/>
          </a:xfrm>
          <a:prstGeom prst="line">
            <a:avLst/>
          </a:prstGeom>
          <a:noFill/>
          <a:ln w="25400">
            <a:solidFill>
              <a:srgbClr val="E58E00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548640" y="4507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通過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983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橙の破線 = しきい値。Shape は本人 0.95 でしきい値を超えるが、他製品も 0.93 なので「識別できていない」として通さない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1463040"/>
            <a:ext cx="4297680" cy="1600200"/>
          </a:xfrm>
          <a:prstGeom prst="roundRect">
            <a:avLst>
              <a:gd name="adj" fmla="val 4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9808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手法ごとの条件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498080" y="20116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pass = 本人 ≥ しきい値  かつ  本人 − 他製品最良 ≥ 必要余裕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他製品が未登録なら余裕の条件は評価しない(理由に明記)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0" y="3200400"/>
            <a:ext cx="4297680" cy="17373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98080" y="3337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融合モード(設定で切替)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374904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・全手法が合格(最も保守的)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・重み付き平均 ≥ 総合しきい値 かつ 平均の余裕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・上記 + 必須(gate)手法は個別に合格(既定。Shape が gate)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0" y="507492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98080" y="5212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複数フレーム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7498080" y="5623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フラッシュ OFF/ON × N 枚のスコアを中央値で集約。1 枚の手ブレや反射で判定が揺れない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HandyCam 製品照合 ・ 技法説明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点セットの組み合わせ検査と、金属部品の穴パターン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ウレタン 2 点セット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・製品 = パーツ A + パーツ B。検出した 2 物体をどちらのパーツに対応付けるかは、総合スコア行列の全順列から最大を選ぶ(置く位置は自由)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・各パーツを個別に合否判定 → 両方 OK で製品 OK。A と B を入れ替えて置いても、片方だけ別製品でも検出できる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・登録時: 初回は左→右の順、2 回目以降は既存ビューとの HOG+形状で自動対応付け、向きも初回に揃える</a:t>
            </a:r>
            <a:endParaRPr lang="en-US" sz="1100" dirty="0"/>
          </a:p>
        </p:txBody>
      </p:sp>
      <p:pic>
        <p:nvPicPr>
          <p:cNvPr id="6" name="Image 0" descr="img/canon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23360"/>
            <a:ext cx="54864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同一パーツの登録ビュー群(距離・角度・照明違い)。検査時はこれらとの最大スコアを採る</a:t>
            </a:r>
            <a:endParaRPr lang="en-US" sz="1000" dirty="0"/>
          </a:p>
        </p:txBody>
      </p:sp>
      <p:pic>
        <p:nvPicPr>
          <p:cNvPr id="8" name="Image 1" descr="img/metal_sce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2560320" cy="1920240"/>
          </a:xfrm>
          <a:prstGeom prst="rect">
            <a:avLst/>
          </a:prstGeom>
        </p:spPr>
      </p:pic>
      <p:pic>
        <p:nvPicPr>
          <p:cNvPr id="9" name="Image 2" descr="img/metal_ho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463040"/>
            <a:ext cx="2560320" cy="19202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309360" y="3429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箱の色を周辺から推定して金属だけを抜き、内側輪郭(穴)を点集合にする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6309360" y="384048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49224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穴パターン照合(Holes)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6492240" y="438912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・正規化画像上の穴中心と等価半径を点集合として比較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・最近傍対応から平均オフセットを推定して 1 回補正 → 許容 5% 以内で再対応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・スコア = F1 的な一致率 × 距離減衰。穴が両方に無い製品では評価対象から外す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・金属は映り込みで局所特徴が不安定なため、Holes と Shape を必須(gate)に置く構成を推奨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HandyCam 製品照合 ・ 技法説明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合成画像シミュレーションで見た手法の性質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外形が同じで文字だけ違う 4 製品(A-12 / A-13 / A-12X / B-07)。距離 0.55〜1.6 倍、回転任意、傾き、露出 0.6〜1.6 を振って 24 試行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00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Feature だけが完全分離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148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 0.24 以上、他製品 0.10 以下。押印文字の違いを見分けられるのは局所特徴 + RANSAC。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89520" y="31089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Shape / HOG は外形同一では無力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ただし値は高く安定 → 「外形が違う製品」を弾くゲートとして使う。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6177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NCC / Emboss は融合の一部として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5166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極端な条件(遠距離+強い傾き)で本人が落ちるが、誤りの方向は誤拒否側。ROI で押印領域を重視して使う。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HandyCam 製品照合 ・ 技法説明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アプリでの運用フロー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 も専用学習も不要。登録から調整まで端末だけで回す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556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製品を作成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種類(ウレタン 2 点 / 金属 / 単品)を選ぶと背景と手法の既定が決まる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737360"/>
            <a:ext cx="502920" cy="502920"/>
          </a:xfrm>
          <a:prstGeom prst="ellipse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7556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撮影して登録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423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距離 3 段階 × 角度 2〜3 種。フラッシュ有無は自動で両方保存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737360"/>
            <a:ext cx="502920" cy="502920"/>
          </a:xfrm>
          <a:prstGeom prst="ellipse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7556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ROI を指定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423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押印文字などをドラッグで囲み重み ×2〜3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4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手法評価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800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登録ビューの Leave-One-Out で分離余裕と推奨しきい値 → ワンタップ適用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4114800"/>
            <a:ext cx="502920" cy="502920"/>
          </a:xfrm>
          <a:prstGeom prst="ellipse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54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800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製品を選び撮影 → OK/NG と手法別スコア、NG 理由、デバッグ画像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4114800"/>
            <a:ext cx="502920" cy="502920"/>
          </a:xfrm>
          <a:prstGeom prst="ellipse">
            <a:avLst/>
          </a:prstGeom>
          <a:solidFill>
            <a:srgbClr val="E58E00"/>
          </a:solidFill>
          <a:ln w="12700">
            <a:solidFill>
              <a:srgbClr val="E58E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54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ログで調整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800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手法別スコアを CSV に記録。PC の analyze_log.py で誤受入ゼロを保ったまま誤拒否を減らす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HandyCam 製品照合 ・ 技法説明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推奨する初期構成と、これから確かめること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ウレタン 2 点セット(押印文字)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280160"/>
                <a:gridCol w="91440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重み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しきい値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余裕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gate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Shape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Feature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0.15〜0.25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HOG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0.55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NCC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0.35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Emboss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0.45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1792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金属部品(穴パターン)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280160"/>
                <a:gridCol w="91440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重み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しきい値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余裕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gate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6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Shape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Holes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Feature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HOG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0.55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NCC / Emboss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0.3 / 0.4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97764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検討したが採用しなかったもの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5262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・OCR: 押印のコントラストが低く不安定。GMS の無い端末で動かない。「文字として読む」要件も無い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・製品専用 CNN の学習: 新製品ごとに再学習が要り現場運用に向かない → 汎用埋め込み(任意)に留めた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・動画: バースト + 中央値集約で同等。必要ならフレーム数を増やす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17920" y="397764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実機で確かめること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45262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・YUV 変換、トーチ切替のタイミング、ハンディ端末での処理時間(重ければ解析解像度を下げる)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・実物の押印で ORB が特徴を拾えるか(弱ければ AKAZE → SIFT)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・箱の縁の誤検出。必要なら箱の四隅検出 → パース補正を追加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・しきい値は 2 製品以上を登録し、手法評価と検査ログで詰める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HandyCam 製品照合 ・ 技法説明  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2026-09-04T10:03:05Z</dcterms:created>
  <dcterms:modified xsi:type="dcterms:W3CDTF">2026-09-04T10:03:05Z</dcterms:modified>
</cp:coreProperties>
</file>